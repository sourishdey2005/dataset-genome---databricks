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Genome Components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3A8A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10B981"/>
              </a:solidFill>
              <a:effectLst/>
            </c:spPr>
          </c:dPt>
          <c:dPt>
            <c:idx val="3"/>
            <c:bubble3D val="0"/>
            <c:spPr>
              <a:solidFill>
                <a:srgbClr val="60A5FA"/>
              </a:solidFill>
              <a:effectLst/>
            </c:spPr>
          </c:dPt>
          <c:dPt>
            <c:idx val="4"/>
            <c:bubble3D val="0"/>
            <c:spPr>
              <a:solidFill>
                <a:srgbClr val="FBBF24"/>
              </a:solidFill>
              <a:effectLst/>
            </c:spPr>
          </c:dPt>
          <c:dPt>
            <c:idx val="5"/>
            <c:bubble3D val="0"/>
            <c:spPr>
              <a:solidFill>
                <a:srgbClr val="EF4444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GST — Statistical (60)</c:v>
                </c:pt>
                <c:pt idx="1">
                  <c:v>GC — Categorical (30)</c:v>
                </c:pt>
                <c:pt idx="2">
                  <c:v>GD — Dependency (10)</c:v>
                </c:pt>
                <c:pt idx="3">
                  <c:v>GS — Schema (7)</c:v>
                </c:pt>
                <c:pt idx="4">
                  <c:v>GT — Temporal (5)</c:v>
                </c:pt>
                <c:pt idx="5">
                  <c:v>GQ — Quality (4)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60</c:v>
                </c:pt>
                <c:pt idx="1">
                  <c:v>30</c:v>
                </c:pt>
                <c:pt idx="2">
                  <c:v>10</c:v>
                </c:pt>
                <c:pt idx="3">
                  <c:v>7</c:v>
                </c:pt>
                <c:pt idx="4">
                  <c:v>5</c:v>
                </c:pt>
                <c:pt idx="5">
                  <c:v>4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11827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GST (60)</c:v>
                </c:pt>
              </c:strCache>
            </c:strRef>
          </c:tx>
          <c:spPr>
            <a:solidFill>
              <a:srgbClr val="1E3A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Genome Vector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GC (30)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Genome Vector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30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GD (10)</c:v>
                </c:pt>
              </c:strCache>
            </c:strRef>
          </c:tx>
          <c:spPr>
            <a:solidFill>
              <a:srgbClr val="60A5F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Genome Vector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GS (7)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Genome Vector</c:v>
                  </c:pt>
                </c:lvl>
              </c:multiLvlStrCache>
            </c:multiLvl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GT (5)</c:v>
                </c:pt>
              </c:strCache>
            </c:strRef>
          </c:tx>
          <c:spPr>
            <a:solidFill>
              <a:srgbClr val="FBBF2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Genome Vector</c:v>
                  </c:pt>
                </c:lvl>
              </c:multiLvlStrCache>
            </c:multiLvlStrRef>
          </c:cat>
          <c:val>
            <c:numRef>
              <c:f>Sheet1!$F$2:$F$2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GQ (4)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Genome Vector</c:v>
                  </c:pt>
                </c:lvl>
              </c:multiLvlStrCache>
            </c:multiLvlStrRef>
          </c:cat>
          <c:val>
            <c:numRef>
              <c:f>Sheet1!$G$2:$G$2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111827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11827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11827"/>
                </a:solidFill>
                <a:latin typeface="Arial"/>
              </a:rPr>
              <a:t>Genome Drift from Baseline (G01)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Genome Distance</c:v>
                </c:pt>
              </c:strCache>
            </c:strRef>
          </c:tx>
          <c:spPr>
            <a:solidFill>
              <a:srgbClr val="1E3A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G02</c:v>
                  </c:pt>
                  <c:pt idx="1">
                    <c:v>G03</c:v>
                  </c:pt>
                  <c:pt idx="2">
                    <c:v>G04</c:v>
                  </c:pt>
                  <c:pt idx="3">
                    <c:v>G05</c:v>
                  </c:pt>
                  <c:pt idx="4">
                    <c:v>G06</c:v>
                  </c:pt>
                  <c:pt idx="5">
                    <c:v>G07</c:v>
                  </c:pt>
                  <c:pt idx="6">
                    <c:v>G08</c:v>
                  </c:pt>
                  <c:pt idx="7">
                    <c:v>G09</c:v>
                  </c:pt>
                  <c:pt idx="8">
                    <c:v>G10</c:v>
                  </c:pt>
                  <c:pt idx="9">
                    <c:v>G11</c:v>
                  </c:pt>
                  <c:pt idx="10">
                    <c:v>G12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0.007</c:v>
                </c:pt>
                <c:pt idx="1">
                  <c:v>13843.07</c:v>
                </c:pt>
                <c:pt idx="2">
                  <c:v>0</c:v>
                </c:pt>
                <c:pt idx="3">
                  <c:v>7910.07</c:v>
                </c:pt>
                <c:pt idx="4">
                  <c:v>1049.77</c:v>
                </c:pt>
                <c:pt idx="5">
                  <c:v>6207.16</c:v>
                </c:pt>
                <c:pt idx="6">
                  <c:v>8576.23</c:v>
                </c:pt>
                <c:pt idx="7">
                  <c:v>9770.98</c:v>
                </c:pt>
                <c:pt idx="8">
                  <c:v>348.92</c:v>
                </c:pt>
                <c:pt idx="9">
                  <c:v>4572.95</c:v>
                </c:pt>
                <c:pt idx="10">
                  <c:v>4189.13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6B7280"/>
                    </a:solidFill>
                    <a:latin typeface="Arial"/>
                  </a:rPr>
                  <a:t>Variant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6B7280"/>
                    </a:solidFill>
                    <a:latin typeface="Arial"/>
                  </a:rPr>
                  <a:t>Genome Distance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11827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11827"/>
                </a:solidFill>
                <a:latin typeface="Arial"/>
              </a:rPr>
              <a:t>Quality Score vs Overall Risk (1 − Trust)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Overall Risk</c:v>
                </c:pt>
              </c:strCache>
            </c:strRef>
          </c:tx>
          <c:spPr>
            <a:solidFill>
              <a:srgbClr val="1E3A8A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1E3A8A"/>
              </a:solidFill>
              <a:ln w="9525" cap="flat">
                <a:solidFill>
                  <a:srgbClr val="1E3A8A"/>
                </a:solidFill>
                <a:prstDash val="solid"/>
                <a:round/>
              </a:ln>
              <a:effectLst/>
            </c:spPr>
          </c:marker>
          <c:xVal>
            <c:numRef>
              <c:f>Sheet1!$A$2:$A$13</c:f>
              <c:numCache>
                <c:formatCode>General</c:formatCode>
                <c:ptCount val="12"/>
                <c:pt idx="0">
                  <c:v>98.42</c:v>
                </c:pt>
                <c:pt idx="1">
                  <c:v>98.42</c:v>
                </c:pt>
                <c:pt idx="2">
                  <c:v>98.42</c:v>
                </c:pt>
                <c:pt idx="3">
                  <c:v>98.42</c:v>
                </c:pt>
                <c:pt idx="4">
                  <c:v>95.7</c:v>
                </c:pt>
                <c:pt idx="5">
                  <c:v>98.42</c:v>
                </c:pt>
                <c:pt idx="6">
                  <c:v>77.97</c:v>
                </c:pt>
                <c:pt idx="7">
                  <c:v>76.05</c:v>
                </c:pt>
                <c:pt idx="8">
                  <c:v>81.3</c:v>
                </c:pt>
                <c:pt idx="9">
                  <c:v>98.42</c:v>
                </c:pt>
                <c:pt idx="10">
                  <c:v>78.92</c:v>
                </c:pt>
                <c:pt idx="11">
                  <c:v>98.42</c:v>
                </c:pt>
              </c:numCache>
            </c:numRef>
          </c:xVal>
          <c:y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0.2045</c:v>
                </c:pt>
                <c:pt idx="5">
                  <c:v>0.0248</c:v>
                </c:pt>
                <c:pt idx="6">
                  <c:v>0.0691</c:v>
                </c:pt>
                <c:pt idx="7">
                  <c:v>0.2515</c:v>
                </c:pt>
                <c:pt idx="8">
                  <c:v>0.0935</c:v>
                </c:pt>
                <c:pt idx="9">
                  <c:v>0.0013</c:v>
                </c:pt>
                <c:pt idx="10">
                  <c:v>0.1888</c:v>
                </c:pt>
                <c:pt idx="11">
                  <c:v>0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00"/>
          <c:min val="70"/>
        </c:scaling>
        <c:delete val="0"/>
        <c:axPos val="b"/>
        <c:majorGridlines>
          <c:spPr>
            <a:ln w="6350" cap="flat">
              <a:solidFill>
                <a:srgbClr val="F3F4F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6B7280"/>
                    </a:solidFill>
                    <a:latin typeface="Arial"/>
                  </a:rPr>
                  <a:t>Quality Score (0–100)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0.3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6B7280"/>
                    </a:solidFill>
                    <a:latin typeface="Arial"/>
                  </a:rPr>
                  <a:t>Overall Risk (0–1)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11827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11827"/>
                </a:solidFill>
                <a:latin typeface="Arial"/>
              </a:rPr>
              <a:t>Ablation: Mean Distance per Genome Component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Genome Distance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GS</c:v>
                  </c:pt>
                  <c:pt idx="1">
                    <c:v>GST</c:v>
                  </c:pt>
                  <c:pt idx="2">
                    <c:v>GC</c:v>
                  </c:pt>
                  <c:pt idx="3">
                    <c:v>GD</c:v>
                  </c:pt>
                  <c:pt idx="4">
                    <c:v>GQ</c:v>
                  </c:pt>
                  <c:pt idx="5">
                    <c:v>GT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4948.374</c:v>
                </c:pt>
                <c:pt idx="2">
                  <c:v>13.228</c:v>
                </c:pt>
                <c:pt idx="3">
                  <c:v>0.077</c:v>
                </c:pt>
                <c:pt idx="4">
                  <c:v>0.108</c:v>
                </c:pt>
                <c:pt idx="5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6B7280"/>
                    </a:solidFill>
                    <a:latin typeface="Arial"/>
                  </a:rPr>
                  <a:t>Mean Distance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CAPSTONE PROJECT — 2025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Genome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Explainable Computational Fingerprint for Dataset Similarity, Quality, Drift and Business Readiness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"From Data Profiling to Data Identity."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6035040" cy="123444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246120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Sourish Dey   |   23051223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Computer Science &amp; Engineering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KIIT University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23051223@kiit.ac.in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526280"/>
            <a:ext cx="1143000" cy="347472"/>
          </a:xfrm>
          <a:prstGeom prst="roundRect">
            <a:avLst>
              <a:gd name="adj" fmla="val 15789"/>
            </a:avLst>
          </a:prstGeom>
          <a:solidFill>
            <a:srgbClr val="1E3A8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52628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01368" y="4526280"/>
            <a:ext cx="914400" cy="347472"/>
          </a:xfrm>
          <a:prstGeom prst="roundRect">
            <a:avLst>
              <a:gd name="adj" fmla="val 15789"/>
            </a:avLst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1801368" y="45262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25496" y="4526280"/>
            <a:ext cx="1143000" cy="347472"/>
          </a:xfrm>
          <a:prstGeom prst="roundRect">
            <a:avLst>
              <a:gd name="adj" fmla="val 15789"/>
            </a:avLst>
          </a:prstGeom>
          <a:solidFill>
            <a:srgbClr val="1E3A8A"/>
          </a:solidFill>
          <a:ln/>
        </p:spPr>
      </p:sp>
      <p:sp>
        <p:nvSpPr>
          <p:cNvPr id="14" name="Text 12"/>
          <p:cNvSpPr/>
          <p:nvPr/>
        </p:nvSpPr>
        <p:spPr>
          <a:xfrm>
            <a:off x="2825496" y="452628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078224" y="4526280"/>
            <a:ext cx="1097280" cy="347472"/>
          </a:xfrm>
          <a:prstGeom prst="roundRect">
            <a:avLst>
              <a:gd name="adj" fmla="val 15789"/>
            </a:avLst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4078224" y="45262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Snowpark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285232" y="4526280"/>
            <a:ext cx="1234440" cy="347472"/>
          </a:xfrm>
          <a:prstGeom prst="roundRect">
            <a:avLst>
              <a:gd name="adj" fmla="val 15789"/>
            </a:avLst>
          </a:prstGeom>
          <a:solidFill>
            <a:srgbClr val="1E3A8A"/>
          </a:solidFill>
          <a:ln/>
        </p:spPr>
      </p:sp>
      <p:sp>
        <p:nvSpPr>
          <p:cNvPr id="18" name="Text 16"/>
          <p:cNvSpPr/>
          <p:nvPr/>
        </p:nvSpPr>
        <p:spPr>
          <a:xfrm>
            <a:off x="5285232" y="45262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= 1223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074920"/>
            <a:ext cx="1417320" cy="109728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5166360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48640" y="571134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103120" y="5074920"/>
            <a:ext cx="1417320" cy="109728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103120" y="5166360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2103120" y="571134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 Features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0" y="5074920"/>
            <a:ext cx="1417320" cy="109728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57600" y="5166360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657600" y="571134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Tables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212080" y="5074920"/>
            <a:ext cx="1417320" cy="109728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212080" y="5166360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5212080" y="571134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0408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 Composition — 116 Dimensions</a:t>
            </a:r>
            <a:endParaRPr lang="en-US" sz="130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6949440" y="914400"/>
          <a:ext cx="46634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3" name="Text 30"/>
          <p:cNvSpPr/>
          <p:nvPr/>
        </p:nvSpPr>
        <p:spPr>
          <a:xfrm>
            <a:off x="8595360" y="22402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116-dim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6949440" y="4892040"/>
            <a:ext cx="4663440" cy="1371600"/>
          </a:xfrm>
          <a:prstGeom prst="roundRect">
            <a:avLst>
              <a:gd name="adj" fmla="val 4000"/>
            </a:avLst>
          </a:prstGeom>
          <a:solidFill>
            <a:srgbClr val="1E3A8A"/>
          </a:solidFill>
          <a:ln/>
        </p:spPr>
      </p:sp>
      <p:sp>
        <p:nvSpPr>
          <p:cNvPr id="35" name="Text 32"/>
          <p:cNvSpPr/>
          <p:nvPr/>
        </p:nvSpPr>
        <p:spPr>
          <a:xfrm>
            <a:off x="7178040" y="502920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GS(7) · GST(60) · GC(30) · GD(10) · GQ(4) · GT(5)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orthogonal views combined into one deterministic structural fingerprint per dataset (seed = 1223, 100% synthetic data).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Sourish Dey  |  23051223  |  KIIT University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548872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74904"/>
            <a:ext cx="146304" cy="2743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The Solution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Dataset Genome exists, in one contrast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5212080" cy="4160520"/>
          </a:xfrm>
          <a:prstGeom prst="roundRect">
            <a:avLst>
              <a:gd name="adj" fmla="val 1758"/>
            </a:avLst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258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GENOME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versions of the same dataset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statistical drift undetected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redundancy in data lakes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cross-table relationships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tell if two datasets are structurally similar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42062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9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conventional quality report says ‘4.2% missing’. It does not say whether the dataset can be trusted.”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519672" y="1143000"/>
            <a:ext cx="5212080" cy="4160520"/>
          </a:xfrm>
          <a:prstGeom prst="roundRect">
            <a:avLst>
              <a:gd name="adj" fmla="val 1758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93992" y="13258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DATASET GENOME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39712" y="173736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✔"/>
            </a:pPr>
            <a:r>
              <a:rPr lang="en-US" sz="12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116-dim structural fingerprint per dataset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✔"/>
            </a:pPr>
            <a:r>
              <a:rPr lang="en-US" sz="12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Similarity, drift &amp; redundancy detection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✔"/>
            </a:pPr>
            <a:r>
              <a:rPr lang="en-US" sz="12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root-cause per drift event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✔"/>
            </a:pPr>
            <a:r>
              <a:rPr lang="en-US" sz="12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readiness scoring (READY / REVIEW / INVESTIGATE)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✔"/>
            </a:pPr>
            <a:r>
              <a:rPr lang="en-US" sz="12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analysis: which reports are affected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839712" y="42062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65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dataset stops being a file. It becomes a fingerprint.”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22376" y="5486400"/>
            <a:ext cx="1965960" cy="502920"/>
          </a:xfrm>
          <a:prstGeom prst="roundRect">
            <a:avLst>
              <a:gd name="adj" fmla="val 10909"/>
            </a:avLst>
          </a:prstGeom>
          <a:solidFill>
            <a:srgbClr val="1E3A8A"/>
          </a:solidFill>
          <a:ln/>
        </p:spPr>
      </p:sp>
      <p:sp>
        <p:nvSpPr>
          <p:cNvPr id="14" name="Text 12"/>
          <p:cNvSpPr/>
          <p:nvPr/>
        </p:nvSpPr>
        <p:spPr>
          <a:xfrm>
            <a:off x="722376" y="54864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DATASET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688336" y="5468112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916936" y="5486400"/>
            <a:ext cx="1965960" cy="502920"/>
          </a:xfrm>
          <a:prstGeom prst="roundRect">
            <a:avLst>
              <a:gd name="adj" fmla="val 10909"/>
            </a:avLst>
          </a:prstGeom>
          <a:solidFill>
            <a:srgbClr val="1E3A8A"/>
          </a:solidFill>
          <a:ln/>
        </p:spPr>
      </p:sp>
      <p:sp>
        <p:nvSpPr>
          <p:cNvPr id="17" name="Text 15"/>
          <p:cNvSpPr/>
          <p:nvPr/>
        </p:nvSpPr>
        <p:spPr>
          <a:xfrm>
            <a:off x="2916936" y="54864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82896" y="5468112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111496" y="5486400"/>
            <a:ext cx="1965960" cy="502920"/>
          </a:xfrm>
          <a:prstGeom prst="roundRect">
            <a:avLst>
              <a:gd name="adj" fmla="val 10909"/>
            </a:avLst>
          </a:prstGeom>
          <a:solidFill>
            <a:srgbClr val="1E3A8A"/>
          </a:solidFill>
          <a:ln/>
        </p:spPr>
      </p:sp>
      <p:sp>
        <p:nvSpPr>
          <p:cNvPr id="20" name="Text 18"/>
          <p:cNvSpPr/>
          <p:nvPr/>
        </p:nvSpPr>
        <p:spPr>
          <a:xfrm>
            <a:off x="5111496" y="54864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077456" y="5468112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06056" y="5486400"/>
            <a:ext cx="1965960" cy="502920"/>
          </a:xfrm>
          <a:prstGeom prst="roundRect">
            <a:avLst>
              <a:gd name="adj" fmla="val 10909"/>
            </a:avLst>
          </a:prstGeom>
          <a:solidFill>
            <a:srgbClr val="1E3A8A"/>
          </a:solidFill>
          <a:ln/>
        </p:spPr>
      </p:sp>
      <p:sp>
        <p:nvSpPr>
          <p:cNvPr id="23" name="Text 21"/>
          <p:cNvSpPr/>
          <p:nvPr/>
        </p:nvSpPr>
        <p:spPr>
          <a:xfrm>
            <a:off x="7306056" y="54864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272016" y="5468112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500616" y="5486400"/>
            <a:ext cx="1965960" cy="502920"/>
          </a:xfrm>
          <a:prstGeom prst="roundRect">
            <a:avLst>
              <a:gd name="adj" fmla="val 10909"/>
            </a:avLst>
          </a:prstGeom>
          <a:solidFill>
            <a:srgbClr val="1E3A8A"/>
          </a:solidFill>
          <a:ln/>
        </p:spPr>
      </p:sp>
      <p:sp>
        <p:nvSpPr>
          <p:cNvPr id="26" name="Text 24"/>
          <p:cNvSpPr/>
          <p:nvPr/>
        </p:nvSpPr>
        <p:spPr>
          <a:xfrm>
            <a:off x="9500616" y="54864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DECISION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Sourish Dey  |  23051223  |  KIIT University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48872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46304" cy="2743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926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Benchmark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genome is built, and what it was tested against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847088" cy="868680"/>
          </a:xfrm>
          <a:prstGeom prst="roundRect">
            <a:avLst>
              <a:gd name="adj" fmla="val 7368"/>
            </a:avLst>
          </a:prstGeom>
          <a:solidFill>
            <a:srgbClr val="1E3A8A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0607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" y="1298448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(Raw)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" y="1591056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raw data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2304288" y="123444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432304" y="1005840"/>
            <a:ext cx="1847088" cy="868680"/>
          </a:xfrm>
          <a:prstGeom prst="roundRect">
            <a:avLst>
              <a:gd name="adj" fmla="val 7368"/>
            </a:avLst>
          </a:prstGeom>
          <a:solidFill>
            <a:srgbClr val="1E3A8A"/>
          </a:solidFill>
          <a:ln/>
        </p:spPr>
      </p:sp>
      <p:sp>
        <p:nvSpPr>
          <p:cNvPr id="11" name="Text 9"/>
          <p:cNvSpPr/>
          <p:nvPr/>
        </p:nvSpPr>
        <p:spPr>
          <a:xfrm>
            <a:off x="2505456" y="10607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05456" y="1298448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(Profiled)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05456" y="1591056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+ stats scan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4279392" y="123444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407408" y="1005840"/>
            <a:ext cx="1847088" cy="868680"/>
          </a:xfrm>
          <a:prstGeom prst="roundRect">
            <a:avLst>
              <a:gd name="adj" fmla="val 7368"/>
            </a:avLst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4480560" y="10607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80560" y="1298448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 Builder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80560" y="1591056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116-dim vector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6254496" y="123444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82512" y="1005840"/>
            <a:ext cx="1847088" cy="868680"/>
          </a:xfrm>
          <a:prstGeom prst="roundRect">
            <a:avLst>
              <a:gd name="adj" fmla="val 7368"/>
            </a:avLst>
          </a:prstGeom>
          <a:solidFill>
            <a:srgbClr val="1E3A8A"/>
          </a:solidFill>
          <a:ln/>
        </p:spPr>
      </p:sp>
      <p:sp>
        <p:nvSpPr>
          <p:cNvPr id="21" name="Text 19"/>
          <p:cNvSpPr/>
          <p:nvPr/>
        </p:nvSpPr>
        <p:spPr>
          <a:xfrm>
            <a:off x="6455664" y="10607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55664" y="1298448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Engine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55664" y="1591056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fingerprints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8229600" y="123444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357616" y="1005840"/>
            <a:ext cx="1847088" cy="868680"/>
          </a:xfrm>
          <a:prstGeom prst="roundRect">
            <a:avLst>
              <a:gd name="adj" fmla="val 7368"/>
            </a:avLst>
          </a:prstGeom>
          <a:solidFill>
            <a:srgbClr val="1E3A8A"/>
          </a:solidFill>
          <a:ln/>
        </p:spPr>
      </p:sp>
      <p:sp>
        <p:nvSpPr>
          <p:cNvPr id="26" name="Text 24"/>
          <p:cNvSpPr/>
          <p:nvPr/>
        </p:nvSpPr>
        <p:spPr>
          <a:xfrm>
            <a:off x="8430768" y="10607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430768" y="1298448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Detector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30768" y="1591056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mutated datasets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10204704" y="123444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0332720" y="1005840"/>
            <a:ext cx="1847088" cy="868680"/>
          </a:xfrm>
          <a:prstGeom prst="roundRect">
            <a:avLst>
              <a:gd name="adj" fmla="val 7368"/>
            </a:avLst>
          </a:prstGeom>
          <a:solidFill>
            <a:srgbClr val="1E3A8A"/>
          </a:solidFill>
          <a:ln/>
        </p:spPr>
      </p:sp>
      <p:sp>
        <p:nvSpPr>
          <p:cNvPr id="31" name="Text 29"/>
          <p:cNvSpPr/>
          <p:nvPr/>
        </p:nvSpPr>
        <p:spPr>
          <a:xfrm>
            <a:off x="10405872" y="10607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405872" y="1298448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Analytics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405872" y="1591056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17 tables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457200" y="2203704"/>
            <a:ext cx="146304" cy="2743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5" name="Text 33"/>
          <p:cNvSpPr/>
          <p:nvPr/>
        </p:nvSpPr>
        <p:spPr>
          <a:xfrm>
            <a:off x="713232" y="2148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12-Variant Benchmark (seed = 1223)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57200" y="2532888"/>
            <a:ext cx="1883664" cy="566928"/>
          </a:xfrm>
          <a:prstGeom prst="roundRect">
            <a:avLst>
              <a:gd name="adj" fmla="val 8065"/>
            </a:avLst>
          </a:prstGeom>
          <a:solidFill>
            <a:srgbClr val="1E3A8A"/>
          </a:solidFill>
          <a:ln/>
        </p:spPr>
      </p:sp>
      <p:sp>
        <p:nvSpPr>
          <p:cNvPr id="37" name="Text 35"/>
          <p:cNvSpPr/>
          <p:nvPr/>
        </p:nvSpPr>
        <p:spPr>
          <a:xfrm>
            <a:off x="530352" y="256946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G01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0352" y="28072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830" dirty="0"/>
          </a:p>
        </p:txBody>
      </p:sp>
      <p:sp>
        <p:nvSpPr>
          <p:cNvPr id="39" name="Shape 37"/>
          <p:cNvSpPr/>
          <p:nvPr/>
        </p:nvSpPr>
        <p:spPr>
          <a:xfrm>
            <a:off x="2423160" y="2532888"/>
            <a:ext cx="1883664" cy="566928"/>
          </a:xfrm>
          <a:prstGeom prst="roundRect">
            <a:avLst>
              <a:gd name="adj" fmla="val 8065"/>
            </a:avLst>
          </a:pr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2496312" y="256946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G02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496312" y="28072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ROW_SHUFFLED</a:t>
            </a:r>
            <a:endParaRPr lang="en-US" sz="830" dirty="0"/>
          </a:p>
        </p:txBody>
      </p:sp>
      <p:sp>
        <p:nvSpPr>
          <p:cNvPr id="42" name="Shape 40"/>
          <p:cNvSpPr/>
          <p:nvPr/>
        </p:nvSpPr>
        <p:spPr>
          <a:xfrm>
            <a:off x="4389120" y="2532888"/>
            <a:ext cx="1883664" cy="566928"/>
          </a:xfrm>
          <a:prstGeom prst="roundRect">
            <a:avLst>
              <a:gd name="adj" fmla="val 8065"/>
            </a:avLst>
          </a:prstGeom>
          <a:solidFill>
            <a:srgbClr val="10B981"/>
          </a:solidFill>
          <a:ln/>
        </p:spPr>
      </p:sp>
      <p:sp>
        <p:nvSpPr>
          <p:cNvPr id="43" name="Text 41"/>
          <p:cNvSpPr/>
          <p:nvPr/>
        </p:nvSpPr>
        <p:spPr>
          <a:xfrm>
            <a:off x="4462272" y="256946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G03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462272" y="28072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COLUMN_REORDERED</a:t>
            </a:r>
            <a:endParaRPr lang="en-US" sz="830" dirty="0"/>
          </a:p>
        </p:txBody>
      </p:sp>
      <p:sp>
        <p:nvSpPr>
          <p:cNvPr id="45" name="Shape 43"/>
          <p:cNvSpPr/>
          <p:nvPr/>
        </p:nvSpPr>
        <p:spPr>
          <a:xfrm>
            <a:off x="6355080" y="2532888"/>
            <a:ext cx="1883664" cy="566928"/>
          </a:xfrm>
          <a:prstGeom prst="roundRect">
            <a:avLst>
              <a:gd name="adj" fmla="val 8065"/>
            </a:avLst>
          </a:prstGeom>
          <a:solidFill>
            <a:srgbClr val="10B981"/>
          </a:solidFill>
          <a:ln/>
        </p:spPr>
      </p:sp>
      <p:sp>
        <p:nvSpPr>
          <p:cNvPr id="46" name="Text 44"/>
          <p:cNvSpPr/>
          <p:nvPr/>
        </p:nvSpPr>
        <p:spPr>
          <a:xfrm>
            <a:off x="6428232" y="256946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G04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428232" y="28072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COLUMN_RENAMED</a:t>
            </a:r>
            <a:endParaRPr lang="en-US" sz="830" dirty="0"/>
          </a:p>
        </p:txBody>
      </p:sp>
      <p:sp>
        <p:nvSpPr>
          <p:cNvPr id="48" name="Shape 46"/>
          <p:cNvSpPr/>
          <p:nvPr/>
        </p:nvSpPr>
        <p:spPr>
          <a:xfrm>
            <a:off x="8321040" y="2532888"/>
            <a:ext cx="1883664" cy="566928"/>
          </a:xfrm>
          <a:prstGeom prst="roundRect">
            <a:avLst>
              <a:gd name="adj" fmla="val 8065"/>
            </a:avLst>
          </a:prstGeom>
          <a:solidFill>
            <a:srgbClr val="2563EB"/>
          </a:solidFill>
          <a:ln/>
        </p:spPr>
      </p:sp>
      <p:sp>
        <p:nvSpPr>
          <p:cNvPr id="49" name="Text 47"/>
          <p:cNvSpPr/>
          <p:nvPr/>
        </p:nvSpPr>
        <p:spPr>
          <a:xfrm>
            <a:off x="8394192" y="256946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G05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394192" y="28072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MISSING_20</a:t>
            </a:r>
            <a:endParaRPr lang="en-US" sz="830" dirty="0"/>
          </a:p>
        </p:txBody>
      </p:sp>
      <p:sp>
        <p:nvSpPr>
          <p:cNvPr id="51" name="Shape 49"/>
          <p:cNvSpPr/>
          <p:nvPr/>
        </p:nvSpPr>
        <p:spPr>
          <a:xfrm>
            <a:off x="10287000" y="2532888"/>
            <a:ext cx="1883664" cy="566928"/>
          </a:xfrm>
          <a:prstGeom prst="roundRect">
            <a:avLst>
              <a:gd name="adj" fmla="val 8065"/>
            </a:avLst>
          </a:prstGeom>
          <a:solidFill>
            <a:srgbClr val="2563EB"/>
          </a:solidFill>
          <a:ln/>
        </p:spPr>
      </p:sp>
      <p:sp>
        <p:nvSpPr>
          <p:cNvPr id="52" name="Text 50"/>
          <p:cNvSpPr/>
          <p:nvPr/>
        </p:nvSpPr>
        <p:spPr>
          <a:xfrm>
            <a:off x="10360152" y="256946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G06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0360152" y="28072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NOISE_10</a:t>
            </a:r>
            <a:endParaRPr lang="en-US" sz="830" dirty="0"/>
          </a:p>
        </p:txBody>
      </p:sp>
      <p:sp>
        <p:nvSpPr>
          <p:cNvPr id="54" name="Shape 52"/>
          <p:cNvSpPr/>
          <p:nvPr/>
        </p:nvSpPr>
        <p:spPr>
          <a:xfrm>
            <a:off x="457200" y="3182112"/>
            <a:ext cx="1883664" cy="566928"/>
          </a:xfrm>
          <a:prstGeom prst="roundRect">
            <a:avLst>
              <a:gd name="adj" fmla="val 8065"/>
            </a:avLst>
          </a:prstGeom>
          <a:solidFill>
            <a:srgbClr val="2563EB"/>
          </a:solidFill>
          <a:ln/>
        </p:spPr>
      </p:sp>
      <p:sp>
        <p:nvSpPr>
          <p:cNvPr id="55" name="Text 53"/>
          <p:cNvSpPr/>
          <p:nvPr/>
        </p:nvSpPr>
        <p:spPr>
          <a:xfrm>
            <a:off x="530352" y="32186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G07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30352" y="34564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REDUNDANCY_20</a:t>
            </a:r>
            <a:endParaRPr lang="en-US" sz="830" dirty="0"/>
          </a:p>
        </p:txBody>
      </p:sp>
      <p:sp>
        <p:nvSpPr>
          <p:cNvPr id="57" name="Shape 55"/>
          <p:cNvSpPr/>
          <p:nvPr/>
        </p:nvSpPr>
        <p:spPr>
          <a:xfrm>
            <a:off x="2423160" y="3182112"/>
            <a:ext cx="1883664" cy="566928"/>
          </a:xfrm>
          <a:prstGeom prst="roundRect">
            <a:avLst>
              <a:gd name="adj" fmla="val 8065"/>
            </a:avLst>
          </a:prstGeom>
          <a:solidFill>
            <a:srgbClr val="2563EB"/>
          </a:solidFill>
          <a:ln/>
        </p:spPr>
      </p:sp>
      <p:sp>
        <p:nvSpPr>
          <p:cNvPr id="58" name="Text 56"/>
          <p:cNvSpPr/>
          <p:nvPr/>
        </p:nvSpPr>
        <p:spPr>
          <a:xfrm>
            <a:off x="2496312" y="32186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G08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2496312" y="34564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IMBALANCE_90</a:t>
            </a:r>
            <a:endParaRPr lang="en-US" sz="830" dirty="0"/>
          </a:p>
        </p:txBody>
      </p:sp>
      <p:sp>
        <p:nvSpPr>
          <p:cNvPr id="60" name="Shape 58"/>
          <p:cNvSpPr/>
          <p:nvPr/>
        </p:nvSpPr>
        <p:spPr>
          <a:xfrm>
            <a:off x="4389120" y="3182112"/>
            <a:ext cx="1883664" cy="566928"/>
          </a:xfrm>
          <a:prstGeom prst="roundRect">
            <a:avLst>
              <a:gd name="adj" fmla="val 8065"/>
            </a:avLst>
          </a:prstGeom>
          <a:solidFill>
            <a:srgbClr val="2563EB"/>
          </a:solidFill>
          <a:ln/>
        </p:spPr>
      </p:sp>
      <p:sp>
        <p:nvSpPr>
          <p:cNvPr id="61" name="Text 59"/>
          <p:cNvSpPr/>
          <p:nvPr/>
        </p:nvSpPr>
        <p:spPr>
          <a:xfrm>
            <a:off x="4462272" y="32186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G09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462272" y="34564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DRIFT_20</a:t>
            </a:r>
            <a:endParaRPr lang="en-US" sz="830" dirty="0"/>
          </a:p>
        </p:txBody>
      </p:sp>
      <p:sp>
        <p:nvSpPr>
          <p:cNvPr id="63" name="Shape 61"/>
          <p:cNvSpPr/>
          <p:nvPr/>
        </p:nvSpPr>
        <p:spPr>
          <a:xfrm>
            <a:off x="6355080" y="3182112"/>
            <a:ext cx="1883664" cy="566928"/>
          </a:xfrm>
          <a:prstGeom prst="roundRect">
            <a:avLst>
              <a:gd name="adj" fmla="val 8065"/>
            </a:avLst>
          </a:prstGeom>
          <a:solidFill>
            <a:srgbClr val="F59E0B"/>
          </a:solidFill>
          <a:ln/>
        </p:spPr>
      </p:sp>
      <p:sp>
        <p:nvSpPr>
          <p:cNvPr id="64" name="Text 62"/>
          <p:cNvSpPr/>
          <p:nvPr/>
        </p:nvSpPr>
        <p:spPr>
          <a:xfrm>
            <a:off x="6428232" y="32186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G10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428232" y="34564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DEPENDENCY_BREAK</a:t>
            </a:r>
            <a:endParaRPr lang="en-US" sz="830" dirty="0"/>
          </a:p>
        </p:txBody>
      </p:sp>
      <p:sp>
        <p:nvSpPr>
          <p:cNvPr id="66" name="Shape 64"/>
          <p:cNvSpPr/>
          <p:nvPr/>
        </p:nvSpPr>
        <p:spPr>
          <a:xfrm>
            <a:off x="8321040" y="3182112"/>
            <a:ext cx="1883664" cy="566928"/>
          </a:xfrm>
          <a:prstGeom prst="roundRect">
            <a:avLst>
              <a:gd name="adj" fmla="val 8065"/>
            </a:avLst>
          </a:prstGeom>
          <a:solidFill>
            <a:srgbClr val="F59E0B"/>
          </a:solidFill>
          <a:ln/>
        </p:spPr>
      </p:sp>
      <p:sp>
        <p:nvSpPr>
          <p:cNvPr id="67" name="Text 65"/>
          <p:cNvSpPr/>
          <p:nvPr/>
        </p:nvSpPr>
        <p:spPr>
          <a:xfrm>
            <a:off x="8394192" y="32186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G11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8394192" y="34564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COMBINED_MUTATION</a:t>
            </a:r>
            <a:endParaRPr lang="en-US" sz="830" dirty="0"/>
          </a:p>
        </p:txBody>
      </p:sp>
      <p:sp>
        <p:nvSpPr>
          <p:cNvPr id="69" name="Shape 67"/>
          <p:cNvSpPr/>
          <p:nvPr/>
        </p:nvSpPr>
        <p:spPr>
          <a:xfrm>
            <a:off x="10287000" y="3182112"/>
            <a:ext cx="1883664" cy="566928"/>
          </a:xfrm>
          <a:prstGeom prst="roundRect">
            <a:avLst>
              <a:gd name="adj" fmla="val 8065"/>
            </a:avLst>
          </a:prstGeom>
          <a:solidFill>
            <a:srgbClr val="F59E0B"/>
          </a:solidFill>
          <a:ln/>
        </p:spPr>
      </p:sp>
      <p:sp>
        <p:nvSpPr>
          <p:cNvPr id="70" name="Text 68"/>
          <p:cNvSpPr/>
          <p:nvPr/>
        </p:nvSpPr>
        <p:spPr>
          <a:xfrm>
            <a:off x="10360152" y="32186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G12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10360152" y="34564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SCALE_TRANSFORMED</a:t>
            </a:r>
            <a:endParaRPr lang="en-US" sz="830" dirty="0"/>
          </a:p>
        </p:txBody>
      </p:sp>
      <p:sp>
        <p:nvSpPr>
          <p:cNvPr id="72" name="Shape 70"/>
          <p:cNvSpPr/>
          <p:nvPr/>
        </p:nvSpPr>
        <p:spPr>
          <a:xfrm>
            <a:off x="457200" y="3886200"/>
            <a:ext cx="146304" cy="1463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3" name="Text 71"/>
          <p:cNvSpPr/>
          <p:nvPr/>
        </p:nvSpPr>
        <p:spPr>
          <a:xfrm>
            <a:off x="658368" y="3840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Invariance tests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3246120" y="3886200"/>
            <a:ext cx="146304" cy="1463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5" name="Text 73"/>
          <p:cNvSpPr/>
          <p:nvPr/>
        </p:nvSpPr>
        <p:spPr>
          <a:xfrm>
            <a:off x="3447288" y="3840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/ statistics changes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6035040" y="3886200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7" name="Text 75"/>
          <p:cNvSpPr/>
          <p:nvPr/>
        </p:nvSpPr>
        <p:spPr>
          <a:xfrm>
            <a:off x="6236208" y="3840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changes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457200" y="4352544"/>
            <a:ext cx="146304" cy="2743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79" name="Text 77"/>
          <p:cNvSpPr/>
          <p:nvPr/>
        </p:nvSpPr>
        <p:spPr>
          <a:xfrm>
            <a:off x="713232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 Component Breakdown — 116 Dimensions</a:t>
            </a:r>
            <a:endParaRPr lang="en-US" sz="1600" dirty="0"/>
          </a:p>
        </p:txBody>
      </p:sp>
      <p:graphicFrame>
        <p:nvGraphicFramePr>
          <p:cNvPr id="80" name="Chart 0" descr=""/>
          <p:cNvGraphicFramePr/>
          <p:nvPr/>
        </p:nvGraphicFramePr>
        <p:xfrm>
          <a:off x="457200" y="4617720"/>
          <a:ext cx="11247120" cy="1051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1" name="Text 78"/>
          <p:cNvSpPr/>
          <p:nvPr/>
        </p:nvSpPr>
        <p:spPr>
          <a:xfrm>
            <a:off x="457200" y="57424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 dimensions across 6 orthogonal views</a:t>
            </a:r>
            <a:endParaRPr lang="en-US" sz="900" dirty="0"/>
          </a:p>
        </p:txBody>
      </p:sp>
      <p:sp>
        <p:nvSpPr>
          <p:cNvPr id="82" name="Text 79"/>
          <p:cNvSpPr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Sourish Dey  |  23051223  |  KIIT University</a:t>
            </a:r>
            <a:endParaRPr lang="en-US" sz="900" dirty="0"/>
          </a:p>
        </p:txBody>
      </p:sp>
      <p:sp>
        <p:nvSpPr>
          <p:cNvPr id="83" name="Text 80"/>
          <p:cNvSpPr/>
          <p:nvPr/>
        </p:nvSpPr>
        <p:spPr>
          <a:xfrm>
            <a:off x="11548872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46304" cy="2743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Visualizations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genome found across the 12-dataset benchmark</a:t>
            </a:r>
            <a:endParaRPr lang="en-US" sz="11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914400"/>
          <a:ext cx="553212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035808"/>
            <a:ext cx="5532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G03=13,843 · G09=9,771 · G08=8,576 — GST dominates the signal</a:t>
            </a:r>
            <a:endParaRPr lang="en-US" sz="85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17920" y="914400"/>
          <a:ext cx="553212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6217920" y="3035808"/>
            <a:ext cx="5532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Red-ring outliers: G07, G08, G09, G11 — highest residual risk despite READY status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457200" y="3310128"/>
            <a:ext cx="5532120" cy="2103120"/>
          </a:xfrm>
          <a:prstGeom prst="roundRect">
            <a:avLst>
              <a:gd name="adj" fmla="val 2609"/>
            </a:avLst>
          </a:prstGeom>
          <a:solidFill>
            <a:srgbClr val="F3F4F6"/>
          </a:solidFill>
          <a:ln/>
        </p:spPr>
      </p:sp>
      <p:sp>
        <p:nvSpPr>
          <p:cNvPr id="10" name="Text 6"/>
          <p:cNvSpPr/>
          <p:nvPr/>
        </p:nvSpPr>
        <p:spPr>
          <a:xfrm>
            <a:off x="594360" y="3383280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of 116-dim Genomes (PC1+PC2 = 64.36%)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94360" y="5157216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(36.6% variance) →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502920" y="381304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(27.8%)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914400" y="5001768"/>
            <a:ext cx="4800600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14400" y="3675888"/>
            <a:ext cx="0" cy="132588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097280" y="4544568"/>
            <a:ext cx="1463040" cy="777240"/>
          </a:xfrm>
          <a:prstGeom prst="ellipse">
            <a:avLst/>
          </a:prstGeom>
          <a:ln w="19050">
            <a:solidFill>
              <a:srgbClr val="10B981"/>
            </a:solidFill>
            <a:prstDash val="dash"/>
          </a:ln>
        </p:spPr>
      </p:sp>
      <p:sp>
        <p:nvSpPr>
          <p:cNvPr id="16" name="Text 12"/>
          <p:cNvSpPr/>
          <p:nvPr/>
        </p:nvSpPr>
        <p:spPr>
          <a:xfrm>
            <a:off x="1143000" y="48188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G01–G04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2926080" y="3950208"/>
            <a:ext cx="2103120" cy="1280160"/>
          </a:xfrm>
          <a:prstGeom prst="ellipse">
            <a:avLst/>
          </a:prstGeom>
          <a:ln w="19050">
            <a:solidFill>
              <a:srgbClr val="2563EB"/>
            </a:solidFill>
            <a:prstDash val="dash"/>
          </a:ln>
        </p:spPr>
      </p:sp>
      <p:sp>
        <p:nvSpPr>
          <p:cNvPr id="18" name="Text 14"/>
          <p:cNvSpPr/>
          <p:nvPr/>
        </p:nvSpPr>
        <p:spPr>
          <a:xfrm>
            <a:off x="3566160" y="44531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G05–G11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5349240" y="3813048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6"/>
          <p:cNvSpPr/>
          <p:nvPr/>
        </p:nvSpPr>
        <p:spPr>
          <a:xfrm>
            <a:off x="5166360" y="41330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G12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4480560" y="34930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(scale-sensitive, plotted far from origin)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594360" y="5367528"/>
            <a:ext cx="5257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Schematic — clusters positioned qualitatively; exact PC coordinates not part of the reported benchmark output.</a:t>
            </a:r>
            <a:endParaRPr lang="en-US" sz="100" dirty="0"/>
          </a:p>
        </p:txBody>
      </p:sp>
      <p:graphicFrame>
        <p:nvGraphicFramePr>
          <p:cNvPr id="23" name="Chart 2" descr=""/>
          <p:cNvGraphicFramePr/>
          <p:nvPr/>
        </p:nvGraphicFramePr>
        <p:xfrm>
          <a:off x="6217920" y="3310128"/>
          <a:ext cx="553212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4" name="Text 19"/>
          <p:cNvSpPr/>
          <p:nvPr/>
        </p:nvSpPr>
        <p:spPr>
          <a:xfrm>
            <a:off x="6217920" y="5431536"/>
            <a:ext cx="5532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= 4,948.37 — statistical component dominates, but all 6 are required for full coverage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6016752" y="5742432"/>
            <a:ext cx="1325880" cy="566928"/>
          </a:xfrm>
          <a:prstGeom prst="roundRect">
            <a:avLst>
              <a:gd name="adj" fmla="val 12903"/>
            </a:avLst>
          </a:prstGeom>
          <a:solidFill>
            <a:srgbClr val="F3F4F6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6016752" y="5833872"/>
            <a:ext cx="132588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84.43</a:t>
            </a:r>
            <a:endParaRPr lang="en-US" sz="2600" dirty="0"/>
          </a:p>
        </p:txBody>
      </p:sp>
      <p:sp>
        <p:nvSpPr>
          <p:cNvPr id="27" name="Text 22"/>
          <p:cNvSpPr/>
          <p:nvPr/>
        </p:nvSpPr>
        <p:spPr>
          <a:xfrm>
            <a:off x="6016752" y="6071250"/>
            <a:ext cx="1325880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Quality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7479792" y="5742432"/>
            <a:ext cx="1325880" cy="566928"/>
          </a:xfrm>
          <a:prstGeom prst="roundRect">
            <a:avLst>
              <a:gd name="adj" fmla="val 12903"/>
            </a:avLst>
          </a:prstGeom>
          <a:solidFill>
            <a:srgbClr val="F3F4F6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7479792" y="5833872"/>
            <a:ext cx="132588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90.61</a:t>
            </a:r>
            <a:endParaRPr lang="en-US" sz="2600" dirty="0"/>
          </a:p>
        </p:txBody>
      </p:sp>
      <p:sp>
        <p:nvSpPr>
          <p:cNvPr id="30" name="Text 25"/>
          <p:cNvSpPr/>
          <p:nvPr/>
        </p:nvSpPr>
        <p:spPr>
          <a:xfrm>
            <a:off x="7479792" y="6071250"/>
            <a:ext cx="1325880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Trust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8942832" y="5742432"/>
            <a:ext cx="1325880" cy="566928"/>
          </a:xfrm>
          <a:prstGeom prst="roundRect">
            <a:avLst>
              <a:gd name="adj" fmla="val 12903"/>
            </a:avLst>
          </a:prstGeom>
          <a:solidFill>
            <a:srgbClr val="F3F4F6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Text 27"/>
          <p:cNvSpPr/>
          <p:nvPr/>
        </p:nvSpPr>
        <p:spPr>
          <a:xfrm>
            <a:off x="8942832" y="5833872"/>
            <a:ext cx="132588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8/11</a:t>
            </a:r>
            <a:endParaRPr lang="en-US" sz="2600" dirty="0"/>
          </a:p>
        </p:txBody>
      </p:sp>
      <p:sp>
        <p:nvSpPr>
          <p:cNvPr id="33" name="Text 28"/>
          <p:cNvSpPr/>
          <p:nvPr/>
        </p:nvSpPr>
        <p:spPr>
          <a:xfrm>
            <a:off x="8942832" y="6071250"/>
            <a:ext cx="1325880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Events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10405872" y="5742432"/>
            <a:ext cx="1325880" cy="566928"/>
          </a:xfrm>
          <a:prstGeom prst="roundRect">
            <a:avLst>
              <a:gd name="adj" fmla="val 12903"/>
            </a:avLst>
          </a:prstGeom>
          <a:solidFill>
            <a:srgbClr val="F3F4F6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Text 30"/>
          <p:cNvSpPr/>
          <p:nvPr/>
        </p:nvSpPr>
        <p:spPr>
          <a:xfrm>
            <a:off x="10405872" y="5833872"/>
            <a:ext cx="132588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0.4763</a:t>
            </a:r>
            <a:endParaRPr lang="en-US" sz="2600" dirty="0"/>
          </a:p>
        </p:txBody>
      </p:sp>
      <p:sp>
        <p:nvSpPr>
          <p:cNvPr id="36" name="Text 31"/>
          <p:cNvSpPr/>
          <p:nvPr/>
        </p:nvSpPr>
        <p:spPr>
          <a:xfrm>
            <a:off x="10405872" y="6071250"/>
            <a:ext cx="1325880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</a:t>
            </a:r>
            <a:endParaRPr lang="en-US" sz="1050" dirty="0"/>
          </a:p>
        </p:txBody>
      </p:sp>
      <p:sp>
        <p:nvSpPr>
          <p:cNvPr id="37" name="Text 32"/>
          <p:cNvSpPr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Sourish Dey  |  23051223  |  KIIT University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11548872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46304" cy="2743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Impact, Research Contribution &amp; Roadmap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2697480" cy="1417320"/>
          </a:xfrm>
          <a:prstGeom prst="roundRect">
            <a:avLst>
              <a:gd name="adj" fmla="val 4516"/>
            </a:avLst>
          </a:prstGeom>
          <a:solidFill>
            <a:srgbClr val="F3F4F6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941832"/>
            <a:ext cx="128016" cy="128016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143000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Onboarding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" y="1527048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datasets auto-compared against history in seconds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3319272" y="777240"/>
            <a:ext cx="2697480" cy="1417320"/>
          </a:xfrm>
          <a:prstGeom prst="roundRect">
            <a:avLst>
              <a:gd name="adj" fmla="val 4516"/>
            </a:avLst>
          </a:prstGeom>
          <a:solidFill>
            <a:srgbClr val="F3F4F6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83864" y="941832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3483864" y="1143000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Storage Cost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83864" y="1527048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redundant pairs identified for consolidation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6181344" y="777240"/>
            <a:ext cx="2697480" cy="1417320"/>
          </a:xfrm>
          <a:prstGeom prst="roundRect">
            <a:avLst>
              <a:gd name="adj" fmla="val 4516"/>
            </a:avLst>
          </a:prstGeom>
          <a:solidFill>
            <a:srgbClr val="F3F4F6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45936" y="941832"/>
            <a:ext cx="128016" cy="12801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345936" y="1143000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Reporting Incidents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45936" y="1527048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reports traced to at-risk datasets via lineage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9043416" y="777240"/>
            <a:ext cx="2697480" cy="1417320"/>
          </a:xfrm>
          <a:prstGeom prst="roundRect">
            <a:avLst>
              <a:gd name="adj" fmla="val 4516"/>
            </a:avLst>
          </a:prstGeom>
          <a:solidFill>
            <a:srgbClr val="F3F4F6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208008" y="941832"/>
            <a:ext cx="128016" cy="12801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9208008" y="1143000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Drift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208008" y="1527048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alert decomposed into contributing components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457200" y="2423160"/>
            <a:ext cx="11274552" cy="1600200"/>
          </a:xfrm>
          <a:prstGeom prst="roundRect">
            <a:avLst>
              <a:gd name="adj" fmla="val 4000"/>
            </a:avLst>
          </a:prstGeom>
          <a:solidFill>
            <a:srgbClr val="1E3A8A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2560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28346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proposes and experimentally evaluates a multi-dimensional Dataset Genome representation combining schema, statistical, categorical, dependency, quality, and temporal characteristics into a unified structural fingerprint.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35204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Invariance confirmed for row shuffle &amp; column rename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4297680" y="35204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confirmed for semantic mutations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5204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break detected via GD component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457200" y="4206240"/>
            <a:ext cx="5440680" cy="1965960"/>
          </a:xfrm>
          <a:prstGeom prst="roundRect">
            <a:avLst>
              <a:gd name="adj" fmla="val 3256"/>
            </a:avLst>
          </a:prstGeom>
          <a:solidFill>
            <a:srgbClr val="F3F4F6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" y="470916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unstructured data (text, images)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genome across org boundaries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drift detection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Genome-aware data contracts in production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63640" y="4206240"/>
            <a:ext cx="5468112" cy="1965960"/>
          </a:xfrm>
          <a:prstGeom prst="roundRect">
            <a:avLst>
              <a:gd name="adj" fmla="val 3256"/>
            </a:avLst>
          </a:prstGeom>
          <a:solidFill>
            <a:srgbClr val="F3F4F6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/ ACCESS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37960" y="470916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github.com/sourishdey/dataset-genome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notebook + Snowflake notebook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Gold tables + 22 charts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reproducible (seed = 1223)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62636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"From Data Profiling to Data Identity." — Sourish Dey, 23051223, KIIT University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Sourish Dey  |  23051223  |  KIIT University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48872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2026-09-23T21:13:35Z</dcterms:created>
  <dcterms:modified xsi:type="dcterms:W3CDTF">2026-09-23T21:13:35Z</dcterms:modified>
</cp:coreProperties>
</file>